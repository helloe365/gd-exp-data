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 userDrawn="1">
          <p15:clr>
            <a:srgbClr val="A4A3A4"/>
          </p15:clr>
        </p15:guide>
        <p15:guide id="2" pos="37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2"/>
        <p:guide pos="37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emf"/><Relationship Id="rId8" Type="http://schemas.openxmlformats.org/officeDocument/2006/relationships/image" Target="../media/image8.emf"/><Relationship Id="rId7" Type="http://schemas.openxmlformats.org/officeDocument/2006/relationships/image" Target="../media/image7.emf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Relationship Id="rId3" Type="http://schemas.openxmlformats.org/officeDocument/2006/relationships/image" Target="../media/image3.emf"/><Relationship Id="rId21" Type="http://schemas.openxmlformats.org/officeDocument/2006/relationships/slideLayout" Target="../slideLayouts/slideLayout1.xml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emf"/><Relationship Id="rId14" Type="http://schemas.openxmlformats.org/officeDocument/2006/relationships/image" Target="../media/image14.emf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emf"/><Relationship Id="rId10" Type="http://schemas.openxmlformats.org/officeDocument/2006/relationships/image" Target="../media/image10.emf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84" name="直接箭头连接符 83"/>
          <p:cNvCxnSpPr/>
          <p:nvPr/>
        </p:nvCxnSpPr>
        <p:spPr>
          <a:xfrm flipV="1">
            <a:off x="7212330" y="2562225"/>
            <a:ext cx="487680" cy="1905"/>
          </a:xfrm>
          <a:prstGeom prst="straightConnector1">
            <a:avLst/>
          </a:prstGeom>
          <a:ln w="31750" cap="rnd">
            <a:solidFill>
              <a:schemeClr val="bg2">
                <a:lumMod val="50000"/>
              </a:schemeClr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8" name="流程图: 可选过程 107"/>
          <p:cNvSpPr/>
          <p:nvPr/>
        </p:nvSpPr>
        <p:spPr>
          <a:xfrm>
            <a:off x="9996170" y="356870"/>
            <a:ext cx="2081530" cy="2934335"/>
          </a:xfrm>
          <a:prstGeom prst="flowChartAlternateProcess">
            <a:avLst/>
          </a:prstGeom>
          <a:noFill/>
          <a:ln w="28575" cmpd="dbl">
            <a:solidFill>
              <a:schemeClr val="accent1">
                <a:shade val="50000"/>
              </a:schemeClr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1" name="流程图: 可选过程 100"/>
          <p:cNvSpPr/>
          <p:nvPr/>
        </p:nvSpPr>
        <p:spPr>
          <a:xfrm>
            <a:off x="8578850" y="560070"/>
            <a:ext cx="1250315" cy="2731135"/>
          </a:xfrm>
          <a:prstGeom prst="flowChartAlternateProcess">
            <a:avLst/>
          </a:prstGeom>
          <a:noFill/>
          <a:ln w="28575" cmpd="dbl">
            <a:solidFill>
              <a:schemeClr val="accent1">
                <a:shade val="50000"/>
              </a:schemeClr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25145" y="2230755"/>
            <a:ext cx="9353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Quary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45135" y="347980"/>
            <a:ext cx="9353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Ancher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1" name="流程图: 手动操作 80"/>
          <p:cNvSpPr/>
          <p:nvPr/>
        </p:nvSpPr>
        <p:spPr>
          <a:xfrm rot="5400000">
            <a:off x="5604510" y="1796415"/>
            <a:ext cx="2423160" cy="780415"/>
          </a:xfrm>
          <a:prstGeom prst="flowChartManualOperation">
            <a:avLst/>
          </a:prstGeom>
          <a:solidFill>
            <a:schemeClr val="accent1">
              <a:lumMod val="40000"/>
              <a:lumOff val="60000"/>
            </a:schemeClr>
          </a:solidFill>
          <a:ln w="317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06400" y="4168140"/>
            <a:ext cx="974090" cy="41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Prompt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595" y="4566920"/>
            <a:ext cx="2134870" cy="509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white tall can</a:t>
            </a:r>
            <a:endParaRPr lang="en-US" altLang="zh-CN" sz="2400">
              <a:solidFill>
                <a:schemeClr val="tx1"/>
              </a:solidFill>
              <a:highlight>
                <a:srgbClr val="00FFFF"/>
              </a:highligh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680720"/>
            <a:ext cx="1792605" cy="134366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96515"/>
            <a:ext cx="1818005" cy="1363980"/>
          </a:xfrm>
          <a:prstGeom prst="rect">
            <a:avLst/>
          </a:prstGeom>
        </p:spPr>
      </p:pic>
      <p:sp>
        <p:nvSpPr>
          <p:cNvPr id="2" name="流程图: 可选过程 1"/>
          <p:cNvSpPr/>
          <p:nvPr/>
        </p:nvSpPr>
        <p:spPr>
          <a:xfrm>
            <a:off x="2493645" y="357505"/>
            <a:ext cx="1979295" cy="3571240"/>
          </a:xfrm>
          <a:prstGeom prst="flowChartAlternateProcess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852420" y="357505"/>
            <a:ext cx="177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视觉编码</a:t>
            </a:r>
            <a:endParaRPr lang="zh-CN" altLang="en-US" sz="2400" b="1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流程图: 手动操作 7"/>
          <p:cNvSpPr/>
          <p:nvPr/>
        </p:nvSpPr>
        <p:spPr>
          <a:xfrm rot="16200000">
            <a:off x="2933700" y="2141855"/>
            <a:ext cx="1136650" cy="1689735"/>
          </a:xfrm>
          <a:prstGeom prst="flowChartManualOperati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tx1"/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9" name="流程图: 手动操作 8"/>
          <p:cNvSpPr/>
          <p:nvPr/>
        </p:nvSpPr>
        <p:spPr>
          <a:xfrm rot="16200000">
            <a:off x="2905125" y="591185"/>
            <a:ext cx="1236345" cy="1655445"/>
          </a:xfrm>
          <a:prstGeom prst="flowChartManualOperati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71755" rtlCol="0" anchor="ctr">
            <a:scene3d>
              <a:camera prst="orthographicFront">
                <a:rot lat="600000" lon="0" rev="0"/>
              </a:camera>
              <a:lightRig rig="threePt" dir="t"/>
            </a:scene3d>
          </a:bodyPr>
          <a:p>
            <a:pPr algn="ctr"/>
            <a:endParaRPr lang="en-US" altLang="zh-CN">
              <a:solidFill>
                <a:schemeClr val="tx1"/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18" name="流程图: 手动操作 17"/>
          <p:cNvSpPr/>
          <p:nvPr/>
        </p:nvSpPr>
        <p:spPr>
          <a:xfrm rot="16200000">
            <a:off x="2815590" y="3953510"/>
            <a:ext cx="1024890" cy="1668145"/>
          </a:xfrm>
          <a:prstGeom prst="flowChartManualOperation">
            <a:avLst/>
          </a:prstGeom>
          <a:solidFill>
            <a:schemeClr val="accent1">
              <a:lumMod val="40000"/>
              <a:lumOff val="60000"/>
            </a:schemeClr>
          </a:solidFill>
          <a:ln w="317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>
              <a:solidFill>
                <a:schemeClr val="tx1"/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cxnSp>
        <p:nvCxnSpPr>
          <p:cNvPr id="21" name="直接箭头连接符 20"/>
          <p:cNvCxnSpPr/>
          <p:nvPr/>
        </p:nvCxnSpPr>
        <p:spPr>
          <a:xfrm>
            <a:off x="4347210" y="3219450"/>
            <a:ext cx="558800" cy="13335"/>
          </a:xfrm>
          <a:prstGeom prst="straightConnector1">
            <a:avLst/>
          </a:prstGeom>
          <a:ln w="28575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4347210" y="2849245"/>
            <a:ext cx="584200" cy="12700"/>
          </a:xfrm>
          <a:prstGeom prst="straightConnector1">
            <a:avLst/>
          </a:prstGeom>
          <a:ln w="28575" cap="rnd">
            <a:solidFill>
              <a:schemeClr val="tx1"/>
            </a:solidFill>
            <a:miter lim="800000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V="1">
            <a:off x="1805940" y="4780280"/>
            <a:ext cx="660400" cy="3175"/>
          </a:xfrm>
          <a:prstGeom prst="straightConnector1">
            <a:avLst/>
          </a:prstGeom>
          <a:ln w="28575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rcRect l="47346" t="1157" r="48007" b="24769"/>
          <a:stretch>
            <a:fillRect/>
          </a:stretch>
        </p:blipFill>
        <p:spPr>
          <a:xfrm>
            <a:off x="4373245" y="2430780"/>
            <a:ext cx="593090" cy="490220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4"/>
          <a:srcRect l="46710" t="1620" r="47863" b="26157"/>
          <a:stretch>
            <a:fillRect/>
          </a:stretch>
        </p:blipFill>
        <p:spPr>
          <a:xfrm>
            <a:off x="4347210" y="3234055"/>
            <a:ext cx="619125" cy="427990"/>
          </a:xfrm>
          <a:prstGeom prst="rect">
            <a:avLst/>
          </a:prstGeom>
        </p:spPr>
      </p:pic>
      <p:cxnSp>
        <p:nvCxnSpPr>
          <p:cNvPr id="37" name="直接箭头连接符 36"/>
          <p:cNvCxnSpPr/>
          <p:nvPr/>
        </p:nvCxnSpPr>
        <p:spPr>
          <a:xfrm>
            <a:off x="1805940" y="1501140"/>
            <a:ext cx="335915" cy="5715"/>
          </a:xfrm>
          <a:prstGeom prst="straightConnector1">
            <a:avLst/>
          </a:prstGeom>
          <a:ln w="28575" cap="rnd">
            <a:solidFill>
              <a:schemeClr val="tx1"/>
            </a:solidFill>
            <a:round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>
            <a:off x="1816735" y="3108325"/>
            <a:ext cx="876935" cy="8890"/>
          </a:xfrm>
          <a:prstGeom prst="straightConnector1">
            <a:avLst/>
          </a:prstGeom>
          <a:ln w="28575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 flipH="1">
            <a:off x="2124710" y="1506855"/>
            <a:ext cx="17145" cy="1379855"/>
          </a:xfrm>
          <a:prstGeom prst="straightConnector1">
            <a:avLst/>
          </a:prstGeom>
          <a:ln w="28575" cap="rnd">
            <a:solidFill>
              <a:schemeClr val="tx1"/>
            </a:solidFill>
            <a:round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>
            <a:off x="2133600" y="2886710"/>
            <a:ext cx="533400" cy="8890"/>
          </a:xfrm>
          <a:prstGeom prst="straightConnector1">
            <a:avLst/>
          </a:prstGeom>
          <a:ln w="28575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/>
        </p:nvCxnSpPr>
        <p:spPr>
          <a:xfrm>
            <a:off x="1817370" y="1276350"/>
            <a:ext cx="876935" cy="8890"/>
          </a:xfrm>
          <a:prstGeom prst="straightConnector1">
            <a:avLst/>
          </a:prstGeom>
          <a:ln w="31750" cap="rnd">
            <a:solidFill>
              <a:schemeClr val="accent1">
                <a:lumMod val="60000"/>
                <a:lumOff val="40000"/>
              </a:schemeClr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1791970" y="3338830"/>
            <a:ext cx="436245" cy="3810"/>
          </a:xfrm>
          <a:prstGeom prst="straightConnector1">
            <a:avLst/>
          </a:prstGeom>
          <a:ln w="31750" cap="rnd">
            <a:solidFill>
              <a:schemeClr val="bg2">
                <a:lumMod val="50000"/>
              </a:schemeClr>
            </a:solidFill>
            <a:round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 flipH="1">
            <a:off x="2237740" y="1471295"/>
            <a:ext cx="15875" cy="1871345"/>
          </a:xfrm>
          <a:prstGeom prst="straightConnector1">
            <a:avLst/>
          </a:prstGeom>
          <a:ln w="31750" cap="rnd">
            <a:solidFill>
              <a:schemeClr val="bg2">
                <a:lumMod val="50000"/>
              </a:schemeClr>
            </a:solidFill>
            <a:round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>
            <a:off x="2263140" y="1471295"/>
            <a:ext cx="388620" cy="8890"/>
          </a:xfrm>
          <a:prstGeom prst="straightConnector1">
            <a:avLst/>
          </a:prstGeom>
          <a:ln w="31750" cap="rnd">
            <a:solidFill>
              <a:schemeClr val="bg2">
                <a:lumMod val="50000"/>
              </a:schemeClr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>
            <a:off x="4351020" y="1581785"/>
            <a:ext cx="560070" cy="0"/>
          </a:xfrm>
          <a:prstGeom prst="straightConnector1">
            <a:avLst/>
          </a:prstGeom>
          <a:ln w="31750" cap="rnd">
            <a:solidFill>
              <a:schemeClr val="bg2">
                <a:lumMod val="50000"/>
              </a:schemeClr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>
            <a:off x="4347210" y="1310640"/>
            <a:ext cx="594360" cy="1905"/>
          </a:xfrm>
          <a:prstGeom prst="straightConnector1">
            <a:avLst/>
          </a:prstGeom>
          <a:ln w="31750" cap="rnd">
            <a:solidFill>
              <a:schemeClr val="accent1">
                <a:lumMod val="60000"/>
                <a:lumOff val="40000"/>
              </a:schemeClr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 flipV="1">
            <a:off x="4163695" y="4807585"/>
            <a:ext cx="502920" cy="5080"/>
          </a:xfrm>
          <a:prstGeom prst="straightConnector1">
            <a:avLst/>
          </a:prstGeom>
          <a:ln w="28575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2" name="图片 51"/>
          <p:cNvPicPr>
            <a:picLocks noChangeAspect="1"/>
          </p:cNvPicPr>
          <p:nvPr/>
        </p:nvPicPr>
        <p:blipFill>
          <a:blip r:embed="rId5"/>
          <a:srcRect l="47094" t="7639" r="48451" b="37500"/>
          <a:stretch>
            <a:fillRect/>
          </a:stretch>
        </p:blipFill>
        <p:spPr>
          <a:xfrm>
            <a:off x="4472940" y="4566920"/>
            <a:ext cx="691515" cy="441325"/>
          </a:xfrm>
          <a:prstGeom prst="rect">
            <a:avLst/>
          </a:prstGeom>
        </p:spPr>
      </p:pic>
      <p:sp>
        <p:nvSpPr>
          <p:cNvPr id="53" name="流程图: 手动操作 52"/>
          <p:cNvSpPr/>
          <p:nvPr/>
        </p:nvSpPr>
        <p:spPr>
          <a:xfrm rot="16200000">
            <a:off x="4203065" y="1703705"/>
            <a:ext cx="2493645" cy="1036955"/>
          </a:xfrm>
          <a:prstGeom prst="flowChartManualOperation">
            <a:avLst/>
          </a:prstGeom>
          <a:solidFill>
            <a:schemeClr val="accent6">
              <a:lumMod val="20000"/>
              <a:lumOff val="80000"/>
            </a:schemeClr>
          </a:solidFill>
          <a:ln w="317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2504440" y="1194435"/>
            <a:ext cx="2026285" cy="702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16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Swin-B </a:t>
            </a:r>
            <a:r>
              <a:rPr lang="zh-CN" altLang="en-US" sz="16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引导网络</a:t>
            </a:r>
            <a:endParaRPr lang="zh-CN" altLang="en-US" sz="1600" b="1">
              <a:solidFill>
                <a:schemeClr val="tx1"/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algn="ctr"/>
            <a:r>
              <a:rPr lang="en-US" altLang="zh-CN" sz="16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(</a:t>
            </a:r>
            <a:r>
              <a:rPr lang="zh-CN" altLang="en-US" sz="16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冻结</a:t>
            </a:r>
            <a:r>
              <a:rPr lang="en-US" altLang="zh-CN" sz="16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)</a:t>
            </a:r>
            <a:endParaRPr lang="en-US" altLang="zh-CN" sz="1600" b="1">
              <a:solidFill>
                <a:schemeClr val="tx1"/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2531745" y="2772410"/>
            <a:ext cx="18783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CLIP </a:t>
            </a:r>
            <a:r>
              <a:rPr lang="zh-CN" altLang="en-US" sz="16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图像编码器</a:t>
            </a:r>
            <a:endParaRPr lang="zh-CN" altLang="en-US" sz="1600" b="1">
              <a:solidFill>
                <a:schemeClr val="tx1"/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algn="ctr"/>
            <a:r>
              <a:rPr lang="en-US" altLang="zh-CN" sz="16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(</a:t>
            </a:r>
            <a:r>
              <a:rPr lang="zh-CN" altLang="en-US" sz="16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冻结</a:t>
            </a:r>
            <a:r>
              <a:rPr lang="en-US" altLang="zh-CN" sz="16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)</a:t>
            </a:r>
            <a:endParaRPr lang="en-US" altLang="zh-CN" sz="1600" b="1">
              <a:solidFill>
                <a:schemeClr val="tx1"/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2370455" y="4493260"/>
            <a:ext cx="19157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CLIP </a:t>
            </a:r>
            <a:r>
              <a:rPr lang="zh-CN" altLang="en-US" sz="16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文本编码器</a:t>
            </a:r>
            <a:endParaRPr lang="zh-CN" altLang="en-US" sz="1600" b="1">
              <a:solidFill>
                <a:schemeClr val="tx1"/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algn="ctr"/>
            <a:r>
              <a:rPr lang="en-US" altLang="zh-CN" sz="16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(</a:t>
            </a:r>
            <a:r>
              <a:rPr lang="zh-CN" altLang="en-US" sz="16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冻结</a:t>
            </a:r>
            <a:r>
              <a:rPr lang="en-US" altLang="zh-CN" sz="16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)</a:t>
            </a:r>
            <a:endParaRPr lang="en-US" altLang="zh-CN" sz="1600" b="1">
              <a:solidFill>
                <a:schemeClr val="tx1"/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4779010" y="1769110"/>
            <a:ext cx="13544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文本</a:t>
            </a:r>
            <a:r>
              <a:rPr lang="en-US" altLang="zh-CN" sz="16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-</a:t>
            </a:r>
            <a:r>
              <a:rPr lang="zh-CN" alt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视觉</a:t>
            </a:r>
            <a:endParaRPr lang="zh-CN" altLang="en-US" sz="1600" b="1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特征融合</a:t>
            </a:r>
            <a:endParaRPr lang="zh-CN" altLang="en-US" sz="1600" b="1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en-US" altLang="zh-CN" sz="16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(</a:t>
            </a:r>
            <a:r>
              <a:rPr lang="zh-CN" alt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训练</a:t>
            </a:r>
            <a:r>
              <a:rPr lang="en-US" altLang="zh-CN" sz="16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)</a:t>
            </a:r>
            <a:endParaRPr lang="en-US" altLang="zh-CN" sz="1600" b="1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61" name="肘形连接符 60"/>
          <p:cNvCxnSpPr>
            <a:stCxn id="52" idx="3"/>
            <a:endCxn id="53" idx="1"/>
          </p:cNvCxnSpPr>
          <p:nvPr/>
        </p:nvCxnSpPr>
        <p:spPr>
          <a:xfrm flipV="1">
            <a:off x="5164455" y="3219450"/>
            <a:ext cx="285750" cy="1568450"/>
          </a:xfrm>
          <a:prstGeom prst="bentConnector2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/>
        </p:nvCxnSpPr>
        <p:spPr>
          <a:xfrm>
            <a:off x="5990590" y="1716405"/>
            <a:ext cx="434975" cy="0"/>
          </a:xfrm>
          <a:prstGeom prst="straightConnector1">
            <a:avLst/>
          </a:prstGeom>
          <a:ln w="31750" cap="rnd">
            <a:solidFill>
              <a:schemeClr val="accent1">
                <a:lumMod val="60000"/>
                <a:lumOff val="40000"/>
              </a:schemeClr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/>
          <p:nvPr/>
        </p:nvCxnSpPr>
        <p:spPr>
          <a:xfrm flipV="1">
            <a:off x="5991225" y="2588895"/>
            <a:ext cx="415290" cy="8890"/>
          </a:xfrm>
          <a:prstGeom prst="straightConnector1">
            <a:avLst/>
          </a:prstGeom>
          <a:ln w="31750" cap="rnd">
            <a:solidFill>
              <a:schemeClr val="bg2">
                <a:lumMod val="50000"/>
              </a:schemeClr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3" name="图片 72"/>
          <p:cNvPicPr>
            <a:picLocks noChangeAspect="1"/>
          </p:cNvPicPr>
          <p:nvPr/>
        </p:nvPicPr>
        <p:blipFill>
          <a:blip r:embed="rId6"/>
          <a:srcRect l="47022" r="47538" b="38657"/>
          <a:stretch>
            <a:fillRect/>
          </a:stretch>
        </p:blipFill>
        <p:spPr>
          <a:xfrm>
            <a:off x="5815330" y="1273175"/>
            <a:ext cx="686435" cy="401955"/>
          </a:xfrm>
          <a:prstGeom prst="rect">
            <a:avLst/>
          </a:prstGeom>
        </p:spPr>
      </p:pic>
      <p:pic>
        <p:nvPicPr>
          <p:cNvPr id="76" name="图片 75"/>
          <p:cNvPicPr>
            <a:picLocks noChangeAspect="1"/>
          </p:cNvPicPr>
          <p:nvPr/>
        </p:nvPicPr>
        <p:blipFill>
          <a:blip r:embed="rId7"/>
          <a:srcRect l="47855" t="2770" r="47935" b="37269"/>
          <a:stretch>
            <a:fillRect/>
          </a:stretch>
        </p:blipFill>
        <p:spPr>
          <a:xfrm>
            <a:off x="5925185" y="2682240"/>
            <a:ext cx="500380" cy="426085"/>
          </a:xfrm>
          <a:prstGeom prst="rect">
            <a:avLst/>
          </a:prstGeom>
        </p:spPr>
      </p:pic>
      <p:pic>
        <p:nvPicPr>
          <p:cNvPr id="78" name="图片 77"/>
          <p:cNvPicPr>
            <a:picLocks noChangeAspect="1"/>
          </p:cNvPicPr>
          <p:nvPr/>
        </p:nvPicPr>
        <p:blipFill>
          <a:blip r:embed="rId8"/>
          <a:srcRect l="47370" r="48103" b="33102"/>
          <a:stretch>
            <a:fillRect/>
          </a:stretch>
        </p:blipFill>
        <p:spPr>
          <a:xfrm>
            <a:off x="4377690" y="975360"/>
            <a:ext cx="469900" cy="360680"/>
          </a:xfrm>
          <a:prstGeom prst="rect">
            <a:avLst/>
          </a:prstGeom>
        </p:spPr>
      </p:pic>
      <p:pic>
        <p:nvPicPr>
          <p:cNvPr id="80" name="图片 79"/>
          <p:cNvPicPr>
            <a:picLocks noChangeAspect="1"/>
          </p:cNvPicPr>
          <p:nvPr/>
        </p:nvPicPr>
        <p:blipFill>
          <a:blip r:embed="rId9"/>
          <a:srcRect l="47272" t="-3994" r="48103" b="26157"/>
          <a:stretch>
            <a:fillRect/>
          </a:stretch>
        </p:blipFill>
        <p:spPr>
          <a:xfrm>
            <a:off x="4387215" y="1621790"/>
            <a:ext cx="460375" cy="402590"/>
          </a:xfrm>
          <a:prstGeom prst="rect">
            <a:avLst/>
          </a:prstGeom>
        </p:spPr>
      </p:pic>
      <p:cxnSp>
        <p:nvCxnSpPr>
          <p:cNvPr id="83" name="直接箭头连接符 82"/>
          <p:cNvCxnSpPr/>
          <p:nvPr/>
        </p:nvCxnSpPr>
        <p:spPr>
          <a:xfrm flipV="1">
            <a:off x="7212330" y="1682115"/>
            <a:ext cx="476250" cy="2540"/>
          </a:xfrm>
          <a:prstGeom prst="straightConnector1">
            <a:avLst/>
          </a:prstGeom>
          <a:ln w="31750" cap="rnd">
            <a:solidFill>
              <a:schemeClr val="accent1">
                <a:lumMod val="60000"/>
                <a:lumOff val="40000"/>
              </a:schemeClr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87" name="图片 86"/>
          <p:cNvPicPr>
            <a:picLocks noChangeAspect="1"/>
          </p:cNvPicPr>
          <p:nvPr/>
        </p:nvPicPr>
        <p:blipFill>
          <a:blip r:embed="rId10"/>
          <a:srcRect l="48259" t="-15509" r="48115" b="27546"/>
          <a:stretch>
            <a:fillRect/>
          </a:stretch>
        </p:blipFill>
        <p:spPr>
          <a:xfrm>
            <a:off x="7212330" y="1207135"/>
            <a:ext cx="404495" cy="509270"/>
          </a:xfrm>
          <a:prstGeom prst="rect">
            <a:avLst/>
          </a:prstGeom>
        </p:spPr>
      </p:pic>
      <p:pic>
        <p:nvPicPr>
          <p:cNvPr id="89" name="图片 88"/>
          <p:cNvPicPr>
            <a:picLocks noChangeAspect="1"/>
          </p:cNvPicPr>
          <p:nvPr/>
        </p:nvPicPr>
        <p:blipFill>
          <a:blip r:embed="rId11"/>
          <a:srcRect l="47550" t="-15509" r="48103" b="24074"/>
          <a:stretch>
            <a:fillRect/>
          </a:stretch>
        </p:blipFill>
        <p:spPr>
          <a:xfrm>
            <a:off x="7152640" y="2564130"/>
            <a:ext cx="523875" cy="572770"/>
          </a:xfrm>
          <a:prstGeom prst="rect">
            <a:avLst/>
          </a:prstGeom>
        </p:spPr>
      </p:pic>
      <p:pic>
        <p:nvPicPr>
          <p:cNvPr id="90" name="图片 8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88580" y="2187575"/>
            <a:ext cx="791210" cy="788035"/>
          </a:xfrm>
          <a:prstGeom prst="rect">
            <a:avLst/>
          </a:prstGeom>
        </p:spPr>
      </p:pic>
      <p:pic>
        <p:nvPicPr>
          <p:cNvPr id="91" name="图片 9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88580" y="1248410"/>
            <a:ext cx="791210" cy="793750"/>
          </a:xfrm>
          <a:prstGeom prst="rect">
            <a:avLst/>
          </a:prstGeom>
        </p:spPr>
      </p:pic>
      <p:pic>
        <p:nvPicPr>
          <p:cNvPr id="93" name="图片 92"/>
          <p:cNvPicPr>
            <a:picLocks noChangeAspect="1"/>
          </p:cNvPicPr>
          <p:nvPr/>
        </p:nvPicPr>
        <p:blipFill>
          <a:blip r:embed="rId14"/>
          <a:srcRect l="46866" t="-6081" r="47863" b="24775"/>
          <a:stretch>
            <a:fillRect/>
          </a:stretch>
        </p:blipFill>
        <p:spPr>
          <a:xfrm>
            <a:off x="7827010" y="867410"/>
            <a:ext cx="514985" cy="423545"/>
          </a:xfrm>
          <a:prstGeom prst="rect">
            <a:avLst/>
          </a:prstGeom>
        </p:spPr>
      </p:pic>
      <p:pic>
        <p:nvPicPr>
          <p:cNvPr id="95" name="图片 94"/>
          <p:cNvPicPr>
            <a:picLocks noChangeAspect="1"/>
          </p:cNvPicPr>
          <p:nvPr/>
        </p:nvPicPr>
        <p:blipFill>
          <a:blip r:embed="rId15"/>
          <a:srcRect l="46446" t="-12162" r="47406" b="30631"/>
          <a:stretch>
            <a:fillRect/>
          </a:stretch>
        </p:blipFill>
        <p:spPr>
          <a:xfrm>
            <a:off x="7743190" y="2948940"/>
            <a:ext cx="682625" cy="483235"/>
          </a:xfrm>
          <a:prstGeom prst="rect">
            <a:avLst/>
          </a:prstGeom>
        </p:spPr>
      </p:pic>
      <p:pic>
        <p:nvPicPr>
          <p:cNvPr id="96" name="图片 9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16200000">
            <a:off x="8172450" y="1671955"/>
            <a:ext cx="1982470" cy="807720"/>
          </a:xfrm>
          <a:prstGeom prst="rect">
            <a:avLst/>
          </a:prstGeom>
        </p:spPr>
      </p:pic>
      <p:cxnSp>
        <p:nvCxnSpPr>
          <p:cNvPr id="98" name="直接箭头连接符 97"/>
          <p:cNvCxnSpPr/>
          <p:nvPr/>
        </p:nvCxnSpPr>
        <p:spPr>
          <a:xfrm flipV="1">
            <a:off x="8486140" y="1617980"/>
            <a:ext cx="326390" cy="3175"/>
          </a:xfrm>
          <a:prstGeom prst="straightConnector1">
            <a:avLst/>
          </a:prstGeom>
          <a:ln w="31750" cap="rnd">
            <a:solidFill>
              <a:schemeClr val="accent1">
                <a:lumMod val="60000"/>
                <a:lumOff val="40000"/>
              </a:schemeClr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9" name="直接箭头连接符 98"/>
          <p:cNvCxnSpPr/>
          <p:nvPr/>
        </p:nvCxnSpPr>
        <p:spPr>
          <a:xfrm flipV="1">
            <a:off x="8486140" y="2583815"/>
            <a:ext cx="332740" cy="1270"/>
          </a:xfrm>
          <a:prstGeom prst="straightConnector1">
            <a:avLst/>
          </a:prstGeom>
          <a:ln w="31750" cap="rnd">
            <a:solidFill>
              <a:schemeClr val="bg2">
                <a:lumMod val="50000"/>
              </a:schemeClr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0" name="文本框 99"/>
          <p:cNvSpPr txBox="1"/>
          <p:nvPr/>
        </p:nvSpPr>
        <p:spPr>
          <a:xfrm>
            <a:off x="8532495" y="716280"/>
            <a:ext cx="13430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最近邻匹配</a:t>
            </a:r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02" name="图片 101" descr="生成抠图图片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164445" y="2204085"/>
            <a:ext cx="669290" cy="862965"/>
          </a:xfrm>
          <a:prstGeom prst="rect">
            <a:avLst/>
          </a:prstGeom>
        </p:spPr>
      </p:pic>
      <p:pic>
        <p:nvPicPr>
          <p:cNvPr id="103" name="图片 102" descr="1生成抠图图片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251440" y="1084580"/>
            <a:ext cx="410210" cy="862330"/>
          </a:xfrm>
          <a:prstGeom prst="rect">
            <a:avLst/>
          </a:prstGeom>
        </p:spPr>
      </p:pic>
      <p:pic>
        <p:nvPicPr>
          <p:cNvPr id="104" name="图片 10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5400000">
            <a:off x="10438765" y="1591945"/>
            <a:ext cx="1946910" cy="969645"/>
          </a:xfrm>
          <a:prstGeom prst="rect">
            <a:avLst/>
          </a:prstGeom>
        </p:spPr>
      </p:pic>
      <p:pic>
        <p:nvPicPr>
          <p:cNvPr id="105" name="图片 10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377680" y="3764280"/>
            <a:ext cx="2623820" cy="1925320"/>
          </a:xfrm>
          <a:prstGeom prst="rect">
            <a:avLst/>
          </a:prstGeom>
        </p:spPr>
      </p:pic>
      <p:sp>
        <p:nvSpPr>
          <p:cNvPr id="106" name="文本框 105"/>
          <p:cNvSpPr txBox="1"/>
          <p:nvPr/>
        </p:nvSpPr>
        <p:spPr>
          <a:xfrm>
            <a:off x="6358255" y="222885"/>
            <a:ext cx="1946275" cy="594360"/>
          </a:xfrm>
          <a:prstGeom prst="rect">
            <a:avLst/>
          </a:prstGeom>
        </p:spPr>
        <p:txBody>
          <a:bodyPr>
            <a:noAutofit/>
          </a:bodyPr>
          <a:p>
            <a:pPr marL="0" indent="0" algn="l">
              <a:spcAft>
                <a:spcPct val="0"/>
              </a:spcAft>
            </a:pPr>
            <a:endParaRPr lang="zh-CN" altLang="en-US" sz="1600" b="1" i="0">
              <a:solidFill>
                <a:srgbClr val="060A26"/>
              </a:solidFill>
              <a:latin typeface="PingFang SC"/>
              <a:ea typeface="PingFang SC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10121900" y="421640"/>
            <a:ext cx="18796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algn="ctr">
              <a:spcAft>
                <a:spcPct val="0"/>
              </a:spcAft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将匹配点反</a:t>
            </a:r>
            <a:endParaRPr lang="zh-CN" altLang="en-US" b="1" i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spcAft>
                <a:spcPct val="0"/>
              </a:spcAft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投影到三维空间</a:t>
            </a:r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cxnSp>
        <p:nvCxnSpPr>
          <p:cNvPr id="109" name="直接箭头连接符 108"/>
          <p:cNvCxnSpPr/>
          <p:nvPr/>
        </p:nvCxnSpPr>
        <p:spPr>
          <a:xfrm flipV="1">
            <a:off x="9567545" y="1499235"/>
            <a:ext cx="636270" cy="7620"/>
          </a:xfrm>
          <a:prstGeom prst="straightConnector1">
            <a:avLst/>
          </a:prstGeom>
          <a:ln w="31750" cap="rnd">
            <a:solidFill>
              <a:schemeClr val="accent1">
                <a:lumMod val="60000"/>
                <a:lumOff val="40000"/>
              </a:schemeClr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0" name="直接箭头连接符 109"/>
          <p:cNvCxnSpPr/>
          <p:nvPr/>
        </p:nvCxnSpPr>
        <p:spPr>
          <a:xfrm flipV="1">
            <a:off x="9567545" y="2596515"/>
            <a:ext cx="648335" cy="2540"/>
          </a:xfrm>
          <a:prstGeom prst="straightConnector1">
            <a:avLst/>
          </a:prstGeom>
          <a:ln w="31750" cap="rnd">
            <a:solidFill>
              <a:schemeClr val="bg2">
                <a:lumMod val="50000"/>
              </a:schemeClr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3" name="直接箭头连接符 112"/>
          <p:cNvCxnSpPr>
            <a:stCxn id="108" idx="2"/>
          </p:cNvCxnSpPr>
          <p:nvPr/>
        </p:nvCxnSpPr>
        <p:spPr>
          <a:xfrm>
            <a:off x="11036935" y="3291205"/>
            <a:ext cx="7620" cy="473075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5" name="直接连接符 114"/>
          <p:cNvCxnSpPr/>
          <p:nvPr/>
        </p:nvCxnSpPr>
        <p:spPr>
          <a:xfrm>
            <a:off x="10318750" y="1833245"/>
            <a:ext cx="54610" cy="1115695"/>
          </a:xfrm>
          <a:prstGeom prst="line">
            <a:avLst/>
          </a:prstGeom>
          <a:ln w="28575" cmpd="sng">
            <a:solidFill>
              <a:srgbClr val="92D05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6" name="直接连接符 115"/>
          <p:cNvCxnSpPr/>
          <p:nvPr/>
        </p:nvCxnSpPr>
        <p:spPr>
          <a:xfrm>
            <a:off x="10318750" y="1452245"/>
            <a:ext cx="250190" cy="1371600"/>
          </a:xfrm>
          <a:prstGeom prst="lin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7" name="直接连接符 116"/>
          <p:cNvCxnSpPr/>
          <p:nvPr/>
        </p:nvCxnSpPr>
        <p:spPr>
          <a:xfrm flipH="1">
            <a:off x="10428605" y="1478915"/>
            <a:ext cx="55245" cy="1243965"/>
          </a:xfrm>
          <a:prstGeom prst="line">
            <a:avLst/>
          </a:prstGeom>
          <a:ln w="28575" cmpd="sng">
            <a:solidFill>
              <a:srgbClr val="00B05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2" name="文本框 81"/>
          <p:cNvSpPr txBox="1"/>
          <p:nvPr/>
        </p:nvSpPr>
        <p:spPr>
          <a:xfrm>
            <a:off x="6283960" y="1896745"/>
            <a:ext cx="1057910" cy="6057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解码器</a:t>
            </a:r>
            <a:endParaRPr lang="zh-CN" altLang="en-US" sz="1600" b="1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en-US" altLang="zh-CN" sz="16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(</a:t>
            </a:r>
            <a:r>
              <a:rPr lang="zh-CN" alt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训练</a:t>
            </a:r>
            <a:r>
              <a:rPr lang="en-US" altLang="zh-CN" sz="16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)</a:t>
            </a:r>
            <a:endParaRPr lang="zh-CN" altLang="en-US" sz="1600" b="1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endParaRPr lang="zh-CN" altLang="en-US" sz="1600" b="1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endParaRPr lang="en-US" altLang="zh-CN" sz="1600" b="1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</Words>
  <Application>WPS 演示</Application>
  <PresentationFormat>宽屏</PresentationFormat>
  <Paragraphs>33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Times New Roman</vt:lpstr>
      <vt:lpstr>黑体</vt:lpstr>
      <vt:lpstr>PingFang SC</vt:lpstr>
      <vt:lpstr>Calibri</vt:lpstr>
      <vt:lpstr>Segoe Print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Wilson</dc:creator>
  <cp:lastModifiedBy>蒲小波</cp:lastModifiedBy>
  <cp:revision>34</cp:revision>
  <dcterms:created xsi:type="dcterms:W3CDTF">2023-08-09T12:44:00Z</dcterms:created>
  <dcterms:modified xsi:type="dcterms:W3CDTF">2026-04-13T13:44:07Z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2052-12.1.0.25222</vt:lpwstr>
  </property>
  <property fmtid="{D5CDD505-2E9C-101B-9397-08002B2CF9AE}" pid="3" name="ICV">
    <vt:lpwstr>39FD31793C2C4796A4647A35DB1DEBEE_12</vt:lpwstr>
  </property>
</Properties>
</file>