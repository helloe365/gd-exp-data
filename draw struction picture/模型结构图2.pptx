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779375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9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2"/>
        <p:guide pos="39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97500" y="1122363"/>
            <a:ext cx="9585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97500" y="3602038"/>
            <a:ext cx="9585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1969" y="1709738"/>
            <a:ext cx="110227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71969" y="4589463"/>
            <a:ext cx="110227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8625" y="1825625"/>
            <a:ext cx="54315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69875" y="1825625"/>
            <a:ext cx="54315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290" y="365125"/>
            <a:ext cx="1102275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0290" y="1681163"/>
            <a:ext cx="540653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80290" y="2505075"/>
            <a:ext cx="540653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469875" y="1681163"/>
            <a:ext cx="54331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69875" y="2505075"/>
            <a:ext cx="5433165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290" y="457200"/>
            <a:ext cx="41218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33165" y="987425"/>
            <a:ext cx="64698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80290" y="2057400"/>
            <a:ext cx="41218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0290" y="457200"/>
            <a:ext cx="41218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433165" y="987425"/>
            <a:ext cx="646987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80290" y="2057400"/>
            <a:ext cx="41218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5688" y="365125"/>
            <a:ext cx="2755688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78625" y="365125"/>
            <a:ext cx="8107313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78625" y="365125"/>
            <a:ext cx="110227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78625" y="1825625"/>
            <a:ext cx="110227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8625" y="6356350"/>
            <a:ext cx="2875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33375" y="6356350"/>
            <a:ext cx="4313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25875" y="6356350"/>
            <a:ext cx="2875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emf"/><Relationship Id="rId8" Type="http://schemas.openxmlformats.org/officeDocument/2006/relationships/image" Target="../media/image8.emf"/><Relationship Id="rId7" Type="http://schemas.openxmlformats.org/officeDocument/2006/relationships/image" Target="../media/image7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emf"/><Relationship Id="rId14" Type="http://schemas.openxmlformats.org/officeDocument/2006/relationships/image" Target="../media/image14.emf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emf"/><Relationship Id="rId10" Type="http://schemas.openxmlformats.org/officeDocument/2006/relationships/image" Target="../media/image10.emf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84" name="直接箭头连接符 83"/>
          <p:cNvCxnSpPr/>
          <p:nvPr/>
        </p:nvCxnSpPr>
        <p:spPr>
          <a:xfrm flipV="1">
            <a:off x="7506330" y="2562225"/>
            <a:ext cx="487680" cy="1905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流程图: 可选过程 107"/>
          <p:cNvSpPr/>
          <p:nvPr/>
        </p:nvSpPr>
        <p:spPr>
          <a:xfrm>
            <a:off x="10290175" y="356870"/>
            <a:ext cx="2345055" cy="2934335"/>
          </a:xfrm>
          <a:prstGeom prst="flowChartAlternateProcess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流程图: 可选过程 100"/>
          <p:cNvSpPr/>
          <p:nvPr/>
        </p:nvSpPr>
        <p:spPr>
          <a:xfrm>
            <a:off x="8872850" y="560070"/>
            <a:ext cx="1250315" cy="2731135"/>
          </a:xfrm>
          <a:prstGeom prst="flowChartAlternateProcess">
            <a:avLst/>
          </a:prstGeom>
          <a:noFill/>
          <a:ln w="28575" cmpd="dbl">
            <a:solidFill>
              <a:schemeClr val="accent1">
                <a:shade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25145" y="2230755"/>
            <a:ext cx="935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Quary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5135" y="347980"/>
            <a:ext cx="935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Ancher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" name="流程图: 手动操作 80"/>
          <p:cNvSpPr/>
          <p:nvPr/>
        </p:nvSpPr>
        <p:spPr>
          <a:xfrm rot="5400000">
            <a:off x="5898510" y="1796415"/>
            <a:ext cx="2423160" cy="780415"/>
          </a:xfrm>
          <a:prstGeom prst="flowChartManualOperation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0400" y="4168140"/>
            <a:ext cx="974090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Prompt</a:t>
            </a:r>
            <a:endParaRPr lang="en-US" altLang="zh-CN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5595" y="4566920"/>
            <a:ext cx="2134870" cy="50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  <a:highlight>
                  <a:srgbClr val="00FFFF"/>
                </a:highlight>
                <a:latin typeface="Times New Roman" panose="02020603050405020304" charset="0"/>
                <a:cs typeface="Times New Roman" panose="02020603050405020304" charset="0"/>
                <a:sym typeface="+mn-ea"/>
              </a:rPr>
              <a:t>white tall can</a:t>
            </a:r>
            <a:endParaRPr lang="en-US" altLang="zh-CN" sz="2400">
              <a:solidFill>
                <a:schemeClr val="tx1"/>
              </a:solidFill>
              <a:highlight>
                <a:srgbClr val="00FFFF"/>
              </a:highligh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05" y="680720"/>
            <a:ext cx="1944370" cy="145859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2596515"/>
            <a:ext cx="1969770" cy="1477645"/>
          </a:xfrm>
          <a:prstGeom prst="rect">
            <a:avLst/>
          </a:prstGeom>
        </p:spPr>
      </p:pic>
      <p:sp>
        <p:nvSpPr>
          <p:cNvPr id="2" name="流程图: 可选过程 1"/>
          <p:cNvSpPr/>
          <p:nvPr/>
        </p:nvSpPr>
        <p:spPr>
          <a:xfrm>
            <a:off x="2787645" y="357505"/>
            <a:ext cx="1979295" cy="3571240"/>
          </a:xfrm>
          <a:prstGeom prst="flowChartAlternateProcess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67025" y="357505"/>
            <a:ext cx="177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</a:rPr>
              <a:t>视觉编码</a:t>
            </a:r>
            <a:endParaRPr lang="zh-CN" altLang="en-US" sz="2400" b="1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流程图: 手动操作 7"/>
          <p:cNvSpPr/>
          <p:nvPr/>
        </p:nvSpPr>
        <p:spPr>
          <a:xfrm rot="16200000">
            <a:off x="3227700" y="2141855"/>
            <a:ext cx="1136650" cy="1689735"/>
          </a:xfrm>
          <a:prstGeom prst="flowChartManualOperati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9" name="流程图: 手动操作 8"/>
          <p:cNvSpPr/>
          <p:nvPr/>
        </p:nvSpPr>
        <p:spPr>
          <a:xfrm rot="16200000">
            <a:off x="3199125" y="591185"/>
            <a:ext cx="1236345" cy="1655445"/>
          </a:xfrm>
          <a:prstGeom prst="flowChartManualOperation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71755" rtlCol="0" anchor="ctr">
            <a:scene3d>
              <a:camera prst="orthographicFront">
                <a:rot lat="600000" lon="0" rev="0"/>
              </a:camera>
              <a:lightRig rig="threePt" dir="t"/>
            </a:scene3d>
          </a:bodyPr>
          <a:p>
            <a:pPr algn="ctr"/>
            <a:endParaRPr lang="en-US" altLang="zh-CN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18" name="流程图: 手动操作 17"/>
          <p:cNvSpPr/>
          <p:nvPr/>
        </p:nvSpPr>
        <p:spPr>
          <a:xfrm rot="16200000">
            <a:off x="3109590" y="3953510"/>
            <a:ext cx="1024890" cy="1668145"/>
          </a:xfrm>
          <a:prstGeom prst="flowChartManualOperation">
            <a:avLst/>
          </a:prstGeom>
          <a:solidFill>
            <a:schemeClr val="accent1">
              <a:lumMod val="40000"/>
              <a:lumOff val="60000"/>
            </a:schemeClr>
          </a:solidFill>
          <a:ln w="317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641210" y="3219450"/>
            <a:ext cx="558800" cy="13335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4641210" y="2849245"/>
            <a:ext cx="584200" cy="12700"/>
          </a:xfrm>
          <a:prstGeom prst="straightConnector1">
            <a:avLst/>
          </a:prstGeom>
          <a:ln w="28575" cap="rnd">
            <a:solidFill>
              <a:schemeClr val="tx1"/>
            </a:solidFill>
            <a:miter lim="800000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2099940" y="4780280"/>
            <a:ext cx="660400" cy="3175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rcRect l="47346" t="1157" r="48007" b="24769"/>
          <a:stretch>
            <a:fillRect/>
          </a:stretch>
        </p:blipFill>
        <p:spPr>
          <a:xfrm>
            <a:off x="4667245" y="2430780"/>
            <a:ext cx="593090" cy="49022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rcRect l="46710" t="1620" r="47863" b="26157"/>
          <a:stretch>
            <a:fillRect/>
          </a:stretch>
        </p:blipFill>
        <p:spPr>
          <a:xfrm>
            <a:off x="4641210" y="3234055"/>
            <a:ext cx="619125" cy="427990"/>
          </a:xfrm>
          <a:prstGeom prst="rect">
            <a:avLst/>
          </a:prstGeom>
        </p:spPr>
      </p:pic>
      <p:cxnSp>
        <p:nvCxnSpPr>
          <p:cNvPr id="37" name="直接箭头连接符 36"/>
          <p:cNvCxnSpPr/>
          <p:nvPr/>
        </p:nvCxnSpPr>
        <p:spPr>
          <a:xfrm>
            <a:off x="2099940" y="1501140"/>
            <a:ext cx="335915" cy="5715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2110735" y="3108325"/>
            <a:ext cx="876935" cy="889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>
            <a:off x="2418710" y="1506855"/>
            <a:ext cx="17145" cy="1379855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2427600" y="2886710"/>
            <a:ext cx="533400" cy="889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2111370" y="1276350"/>
            <a:ext cx="876935" cy="8890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2085970" y="3338830"/>
            <a:ext cx="436245" cy="381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H="1">
            <a:off x="2531740" y="1471295"/>
            <a:ext cx="15875" cy="1871345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2557140" y="1471295"/>
            <a:ext cx="388620" cy="889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4645020" y="1581785"/>
            <a:ext cx="560070" cy="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4641210" y="1310640"/>
            <a:ext cx="594360" cy="1905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V="1">
            <a:off x="4457695" y="4807585"/>
            <a:ext cx="502920" cy="5080"/>
          </a:xfrm>
          <a:prstGeom prst="straightConnector1">
            <a:avLst/>
          </a:prstGeom>
          <a:ln w="28575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2" name="图片 51"/>
          <p:cNvPicPr>
            <a:picLocks noChangeAspect="1"/>
          </p:cNvPicPr>
          <p:nvPr/>
        </p:nvPicPr>
        <p:blipFill>
          <a:blip r:embed="rId5"/>
          <a:srcRect l="47094" t="7639" r="48451" b="37500"/>
          <a:stretch>
            <a:fillRect/>
          </a:stretch>
        </p:blipFill>
        <p:spPr>
          <a:xfrm>
            <a:off x="4766940" y="4566920"/>
            <a:ext cx="691515" cy="441325"/>
          </a:xfrm>
          <a:prstGeom prst="rect">
            <a:avLst/>
          </a:prstGeom>
        </p:spPr>
      </p:pic>
      <p:sp>
        <p:nvSpPr>
          <p:cNvPr id="53" name="流程图: 手动操作 52"/>
          <p:cNvSpPr/>
          <p:nvPr/>
        </p:nvSpPr>
        <p:spPr>
          <a:xfrm rot="16200000">
            <a:off x="4497065" y="1703705"/>
            <a:ext cx="2493645" cy="1036955"/>
          </a:xfrm>
          <a:prstGeom prst="flowChartManualOperation">
            <a:avLst/>
          </a:prstGeom>
          <a:solidFill>
            <a:schemeClr val="accent6">
              <a:lumMod val="20000"/>
              <a:lumOff val="80000"/>
            </a:schemeClr>
          </a:solidFill>
          <a:ln w="317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2798440" y="1194435"/>
            <a:ext cx="2026285" cy="702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Swin-B 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引导网络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冻结</a:t>
            </a:r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852420" y="2722880"/>
            <a:ext cx="18783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CLIP 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图像编码器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冻结</a:t>
            </a:r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2663825" y="4493260"/>
            <a:ext cx="19157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CLIP 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文本编码器</a:t>
            </a:r>
            <a:endParaRPr lang="zh-CN" altLang="en-US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  <a:p>
            <a:pPr algn="ctr"/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冻结</a:t>
            </a:r>
            <a:r>
              <a:rPr lang="en-US" altLang="zh-CN" sz="1600" b="1">
                <a:latin typeface="Times New Roman" panose="02020603050405020304" charset="0"/>
                <a:ea typeface="黑体" panose="02010609060101010101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1600" b="1">
              <a:solidFill>
                <a:schemeClr val="tx1"/>
              </a:solidFill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066665" y="1769110"/>
            <a:ext cx="13544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文本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视觉</a:t>
            </a:r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特征融合</a:t>
            </a:r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(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训练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)</a:t>
            </a:r>
            <a:endParaRPr lang="en-US" altLang="zh-CN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cxnSp>
        <p:nvCxnSpPr>
          <p:cNvPr id="61" name="肘形连接符 60"/>
          <p:cNvCxnSpPr>
            <a:stCxn id="52" idx="3"/>
            <a:endCxn id="53" idx="1"/>
          </p:cNvCxnSpPr>
          <p:nvPr/>
        </p:nvCxnSpPr>
        <p:spPr>
          <a:xfrm flipV="1">
            <a:off x="5458455" y="3219450"/>
            <a:ext cx="285750" cy="1568450"/>
          </a:xfrm>
          <a:prstGeom prst="bentConnector2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>
            <a:off x="6284590" y="1716405"/>
            <a:ext cx="434975" cy="0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6285225" y="2588895"/>
            <a:ext cx="415290" cy="889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3" name="图片 72"/>
          <p:cNvPicPr>
            <a:picLocks noChangeAspect="1"/>
          </p:cNvPicPr>
          <p:nvPr/>
        </p:nvPicPr>
        <p:blipFill>
          <a:blip r:embed="rId6"/>
          <a:srcRect l="47022" r="47538" b="38657"/>
          <a:stretch>
            <a:fillRect/>
          </a:stretch>
        </p:blipFill>
        <p:spPr>
          <a:xfrm>
            <a:off x="6109330" y="1273175"/>
            <a:ext cx="686435" cy="401955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7"/>
          <a:srcRect l="47855" t="2770" r="47935" b="37269"/>
          <a:stretch>
            <a:fillRect/>
          </a:stretch>
        </p:blipFill>
        <p:spPr>
          <a:xfrm>
            <a:off x="6219185" y="2682240"/>
            <a:ext cx="500380" cy="42608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8"/>
          <a:srcRect l="47370" r="48103" b="33102"/>
          <a:stretch>
            <a:fillRect/>
          </a:stretch>
        </p:blipFill>
        <p:spPr>
          <a:xfrm>
            <a:off x="4671690" y="975360"/>
            <a:ext cx="469900" cy="360680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9"/>
          <a:srcRect l="47272" t="-3994" r="48103" b="26157"/>
          <a:stretch>
            <a:fillRect/>
          </a:stretch>
        </p:blipFill>
        <p:spPr>
          <a:xfrm>
            <a:off x="4681215" y="1621790"/>
            <a:ext cx="460375" cy="402590"/>
          </a:xfrm>
          <a:prstGeom prst="rect">
            <a:avLst/>
          </a:prstGeom>
        </p:spPr>
      </p:pic>
      <p:cxnSp>
        <p:nvCxnSpPr>
          <p:cNvPr id="83" name="直接箭头连接符 82"/>
          <p:cNvCxnSpPr/>
          <p:nvPr/>
        </p:nvCxnSpPr>
        <p:spPr>
          <a:xfrm flipV="1">
            <a:off x="7506330" y="1682115"/>
            <a:ext cx="476250" cy="2540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7" name="图片 86"/>
          <p:cNvPicPr>
            <a:picLocks noChangeAspect="1"/>
          </p:cNvPicPr>
          <p:nvPr/>
        </p:nvPicPr>
        <p:blipFill>
          <a:blip r:embed="rId10"/>
          <a:srcRect l="48259" t="-15509" r="48115" b="27546"/>
          <a:stretch>
            <a:fillRect/>
          </a:stretch>
        </p:blipFill>
        <p:spPr>
          <a:xfrm>
            <a:off x="7506330" y="1207135"/>
            <a:ext cx="404495" cy="50927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11"/>
          <a:srcRect l="47550" t="-15509" r="48103" b="24074"/>
          <a:stretch>
            <a:fillRect/>
          </a:stretch>
        </p:blipFill>
        <p:spPr>
          <a:xfrm>
            <a:off x="7446640" y="2564130"/>
            <a:ext cx="523875" cy="57277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82580" y="2187575"/>
            <a:ext cx="791210" cy="788035"/>
          </a:xfrm>
          <a:prstGeom prst="rect">
            <a:avLst/>
          </a:prstGeom>
        </p:spPr>
      </p:pic>
      <p:pic>
        <p:nvPicPr>
          <p:cNvPr id="91" name="图片 9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2580" y="1248410"/>
            <a:ext cx="791210" cy="793750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14"/>
          <a:srcRect l="46866" t="-6081" r="47863" b="24775"/>
          <a:stretch>
            <a:fillRect/>
          </a:stretch>
        </p:blipFill>
        <p:spPr>
          <a:xfrm>
            <a:off x="8121010" y="867410"/>
            <a:ext cx="514985" cy="42354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15"/>
          <a:srcRect l="46446" t="-12162" r="47406" b="30631"/>
          <a:stretch>
            <a:fillRect/>
          </a:stretch>
        </p:blipFill>
        <p:spPr>
          <a:xfrm>
            <a:off x="8037190" y="2948940"/>
            <a:ext cx="682625" cy="483235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6200000">
            <a:off x="8466450" y="1671955"/>
            <a:ext cx="1982470" cy="807720"/>
          </a:xfrm>
          <a:prstGeom prst="rect">
            <a:avLst/>
          </a:prstGeom>
        </p:spPr>
      </p:pic>
      <p:cxnSp>
        <p:nvCxnSpPr>
          <p:cNvPr id="98" name="直接箭头连接符 97"/>
          <p:cNvCxnSpPr/>
          <p:nvPr/>
        </p:nvCxnSpPr>
        <p:spPr>
          <a:xfrm flipV="1">
            <a:off x="8780140" y="1617980"/>
            <a:ext cx="326390" cy="3175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flipV="1">
            <a:off x="8780140" y="2583815"/>
            <a:ext cx="332740" cy="127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8826500" y="716280"/>
            <a:ext cx="1343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最近邻匹配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" name="图片 101" descr="生成抠图图片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58445" y="2204085"/>
            <a:ext cx="669290" cy="862965"/>
          </a:xfrm>
          <a:prstGeom prst="rect">
            <a:avLst/>
          </a:prstGeom>
        </p:spPr>
      </p:pic>
      <p:pic>
        <p:nvPicPr>
          <p:cNvPr id="103" name="图片 102" descr="1生成抠图图片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545440" y="1084580"/>
            <a:ext cx="410210" cy="862330"/>
          </a:xfrm>
          <a:prstGeom prst="rect">
            <a:avLst/>
          </a:prstGeom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5400000">
            <a:off x="10671175" y="1576705"/>
            <a:ext cx="2191385" cy="1091565"/>
          </a:xfrm>
          <a:prstGeom prst="rect">
            <a:avLst/>
          </a:prstGeom>
        </p:spPr>
      </p:pic>
      <p:pic>
        <p:nvPicPr>
          <p:cNvPr id="105" name="图片 10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11405" y="3764280"/>
            <a:ext cx="2623820" cy="1925320"/>
          </a:xfrm>
          <a:prstGeom prst="rect">
            <a:avLst/>
          </a:prstGeom>
        </p:spPr>
      </p:pic>
      <p:sp>
        <p:nvSpPr>
          <p:cNvPr id="106" name="文本框 105"/>
          <p:cNvSpPr txBox="1"/>
          <p:nvPr/>
        </p:nvSpPr>
        <p:spPr>
          <a:xfrm>
            <a:off x="6652255" y="222885"/>
            <a:ext cx="1946275" cy="594360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Aft>
                <a:spcPct val="0"/>
              </a:spcAft>
            </a:pPr>
            <a:endParaRPr lang="zh-CN" altLang="en-US" sz="1600" b="1" i="0">
              <a:solidFill>
                <a:srgbClr val="060A26"/>
              </a:solidFill>
              <a:latin typeface="PingFang SC"/>
              <a:ea typeface="PingFang SC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0545445" y="381635"/>
            <a:ext cx="1879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>
              <a:spcAft>
                <a:spcPct val="0"/>
              </a:spcAft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将匹配点反</a:t>
            </a:r>
            <a:endParaRPr lang="zh-CN" altLang="en-US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ctr">
              <a:spcAft>
                <a:spcPct val="0"/>
              </a:spcAft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投影到三维空间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109" name="直接箭头连接符 108"/>
          <p:cNvCxnSpPr/>
          <p:nvPr/>
        </p:nvCxnSpPr>
        <p:spPr>
          <a:xfrm flipV="1">
            <a:off x="9861545" y="1499235"/>
            <a:ext cx="636270" cy="7620"/>
          </a:xfrm>
          <a:prstGeom prst="straightConnector1">
            <a:avLst/>
          </a:prstGeom>
          <a:ln w="31750" cap="rnd">
            <a:solidFill>
              <a:schemeClr val="accent1">
                <a:lumMod val="60000"/>
                <a:lumOff val="4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V="1">
            <a:off x="9861545" y="2596515"/>
            <a:ext cx="648335" cy="2540"/>
          </a:xfrm>
          <a:prstGeom prst="straightConnector1">
            <a:avLst/>
          </a:prstGeom>
          <a:ln w="31750" cap="rnd">
            <a:solidFill>
              <a:schemeClr val="bg2">
                <a:lumMod val="50000"/>
              </a:schemeClr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>
            <a:stCxn id="108" idx="2"/>
          </p:cNvCxnSpPr>
          <p:nvPr/>
        </p:nvCxnSpPr>
        <p:spPr>
          <a:xfrm>
            <a:off x="11463015" y="3291205"/>
            <a:ext cx="7620" cy="47307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>
            <a:off x="10612750" y="1833245"/>
            <a:ext cx="54610" cy="1115695"/>
          </a:xfrm>
          <a:prstGeom prst="line">
            <a:avLst/>
          </a:prstGeom>
          <a:ln w="28575" cmpd="sng">
            <a:solidFill>
              <a:srgbClr val="92D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10612750" y="1452245"/>
            <a:ext cx="250190" cy="137160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flipH="1">
            <a:off x="10722605" y="1478915"/>
            <a:ext cx="55245" cy="1243965"/>
          </a:xfrm>
          <a:prstGeom prst="line">
            <a:avLst/>
          </a:prstGeom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6577960" y="1896745"/>
            <a:ext cx="1057910" cy="6057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解码器</a:t>
            </a:r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(</a:t>
            </a:r>
            <a:r>
              <a:rPr lang="zh-CN" alt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训练</a:t>
            </a:r>
            <a:r>
              <a:rPr lang="en-US" altLang="zh-CN" sz="16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)</a:t>
            </a:r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zh-CN" altLang="en-US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en-US" altLang="zh-CN" sz="1600" b="1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WPS 演示</Application>
  <PresentationFormat>宽屏</PresentationFormat>
  <Paragraphs>33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黑体</vt:lpstr>
      <vt:lpstr>PingFang SC</vt:lpstr>
      <vt:lpstr>Calibri</vt:lpstr>
      <vt:lpstr>Segoe Print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Wilson</dc:creator>
  <cp:lastModifiedBy>蒲小波</cp:lastModifiedBy>
  <cp:revision>36</cp:revision>
  <dcterms:created xsi:type="dcterms:W3CDTF">2023-08-09T12:44:00Z</dcterms:created>
  <dcterms:modified xsi:type="dcterms:W3CDTF">2026-04-13T13:48:39Z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2052-12.1.0.25222</vt:lpwstr>
  </property>
  <property fmtid="{D5CDD505-2E9C-101B-9397-08002B2CF9AE}" pid="3" name="ICV">
    <vt:lpwstr>79CA57B44587474787609F5CF314DC43_13</vt:lpwstr>
  </property>
</Properties>
</file>